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Montaser Arabic Bold" charset="1" panose="00000800000000000000"/>
      <p:regular r:id="rId14"/>
    </p:embeddedFont>
    <p:embeddedFont>
      <p:font typeface="Montaser Arabic" charset="1" panose="00000500000000000000"/>
      <p:regular r:id="rId15"/>
    </p:embeddedFont>
    <p:embeddedFont>
      <p:font typeface="Raleway Bold" charset="1" panose="00000000000000000000"/>
      <p:regular r:id="rId16"/>
    </p:embeddedFont>
    <p:embeddedFont>
      <p:font typeface="Raleway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1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27790" y="3025717"/>
            <a:ext cx="8288735" cy="7549656"/>
          </a:xfrm>
          <a:custGeom>
            <a:avLst/>
            <a:gdLst/>
            <a:ahLst/>
            <a:cxnLst/>
            <a:rect r="r" b="b" t="t" l="l"/>
            <a:pathLst>
              <a:path h="7549656" w="8288735">
                <a:moveTo>
                  <a:pt x="0" y="0"/>
                </a:moveTo>
                <a:lnTo>
                  <a:pt x="8288735" y="0"/>
                </a:lnTo>
                <a:lnTo>
                  <a:pt x="8288735" y="7549656"/>
                </a:lnTo>
                <a:lnTo>
                  <a:pt x="0" y="7549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1459514" y="-1673036"/>
            <a:ext cx="2794156" cy="5846533"/>
          </a:xfrm>
          <a:custGeom>
            <a:avLst/>
            <a:gdLst/>
            <a:ahLst/>
            <a:cxnLst/>
            <a:rect r="r" b="b" t="t" l="l"/>
            <a:pathLst>
              <a:path h="5846533" w="2794156">
                <a:moveTo>
                  <a:pt x="0" y="5846533"/>
                </a:moveTo>
                <a:lnTo>
                  <a:pt x="2794156" y="5846533"/>
                </a:lnTo>
                <a:lnTo>
                  <a:pt x="2794156" y="0"/>
                </a:lnTo>
                <a:lnTo>
                  <a:pt x="0" y="0"/>
                </a:lnTo>
                <a:lnTo>
                  <a:pt x="0" y="584653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60638" y="8596643"/>
            <a:ext cx="4527362" cy="1011111"/>
          </a:xfrm>
          <a:custGeom>
            <a:avLst/>
            <a:gdLst/>
            <a:ahLst/>
            <a:cxnLst/>
            <a:rect r="r" b="b" t="t" l="l"/>
            <a:pathLst>
              <a:path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81263" y="766104"/>
            <a:ext cx="4527362" cy="1011111"/>
          </a:xfrm>
          <a:custGeom>
            <a:avLst/>
            <a:gdLst/>
            <a:ahLst/>
            <a:cxnLst/>
            <a:rect r="r" b="b" t="t" l="l"/>
            <a:pathLst>
              <a:path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613040" y="-1221580"/>
            <a:ext cx="10147598" cy="7112802"/>
          </a:xfrm>
          <a:custGeom>
            <a:avLst/>
            <a:gdLst/>
            <a:ahLst/>
            <a:cxnLst/>
            <a:rect r="r" b="b" t="t" l="l"/>
            <a:pathLst>
              <a:path h="7112802" w="10147598">
                <a:moveTo>
                  <a:pt x="0" y="0"/>
                </a:moveTo>
                <a:lnTo>
                  <a:pt x="10147598" y="0"/>
                </a:lnTo>
                <a:lnTo>
                  <a:pt x="10147598" y="7112802"/>
                </a:lnTo>
                <a:lnTo>
                  <a:pt x="0" y="71128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4460" y="7063382"/>
            <a:ext cx="6148062" cy="1207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3"/>
              </a:lnSpc>
            </a:pPr>
            <a:r>
              <a:rPr lang="en-US" b="true" sz="2866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Integrantes: </a:t>
            </a:r>
            <a:r>
              <a:rPr lang="en-US" sz="2866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Renato Astargo</a:t>
            </a:r>
          </a:p>
          <a:p>
            <a:pPr algn="l">
              <a:lnSpc>
                <a:spcPts val="3153"/>
              </a:lnSpc>
            </a:pPr>
            <a:r>
              <a:rPr lang="en-US" sz="2866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                      Maximiliano Vargas</a:t>
            </a:r>
          </a:p>
          <a:p>
            <a:pPr algn="l" marL="0" indent="0" lvl="0">
              <a:lnSpc>
                <a:spcPts val="3153"/>
              </a:lnSpc>
            </a:pPr>
            <a:r>
              <a:rPr lang="en-US" sz="2866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                      Bryan Aravena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460" y="8449923"/>
            <a:ext cx="6148062" cy="807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3"/>
              </a:lnSpc>
            </a:pPr>
            <a:r>
              <a:rPr lang="en-US" b="true" sz="2866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Profesor:</a:t>
            </a:r>
            <a:r>
              <a:rPr lang="en-US" sz="2866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Aldo Martinez</a:t>
            </a:r>
          </a:p>
          <a:p>
            <a:pPr algn="l" marL="0" indent="0" lvl="0">
              <a:lnSpc>
                <a:spcPts val="3153"/>
              </a:lnSpc>
            </a:pPr>
            <a:r>
              <a:rPr lang="en-US" b="true" sz="2866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Seccion:</a:t>
            </a:r>
            <a:r>
              <a:rPr lang="en-US" sz="2866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800D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48214" y="3795905"/>
            <a:ext cx="8477250" cy="994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31"/>
              </a:lnSpc>
              <a:spcBef>
                <a:spcPct val="0"/>
              </a:spcBef>
            </a:pPr>
            <a:r>
              <a:rPr lang="en-US" b="true" sz="4365">
                <a:solidFill>
                  <a:srgbClr val="50198F"/>
                </a:solidFill>
                <a:latin typeface="Raleway Bold"/>
                <a:ea typeface="Raleway Bold"/>
                <a:cs typeface="Raleway Bold"/>
                <a:sym typeface="Raleway Bold"/>
              </a:rPr>
              <a:t>Compra, Subasta y Emprende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1459514" y="-1673036"/>
            <a:ext cx="2794156" cy="5846533"/>
          </a:xfrm>
          <a:custGeom>
            <a:avLst/>
            <a:gdLst/>
            <a:ahLst/>
            <a:cxnLst/>
            <a:rect r="r" b="b" t="t" l="l"/>
            <a:pathLst>
              <a:path h="5846533" w="2794156">
                <a:moveTo>
                  <a:pt x="0" y="5846533"/>
                </a:moveTo>
                <a:lnTo>
                  <a:pt x="2794156" y="5846533"/>
                </a:lnTo>
                <a:lnTo>
                  <a:pt x="2794156" y="0"/>
                </a:lnTo>
                <a:lnTo>
                  <a:pt x="0" y="0"/>
                </a:lnTo>
                <a:lnTo>
                  <a:pt x="0" y="584653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62087" y="17589"/>
            <a:ext cx="4527362" cy="1011111"/>
          </a:xfrm>
          <a:custGeom>
            <a:avLst/>
            <a:gdLst/>
            <a:ahLst/>
            <a:cxnLst/>
            <a:rect r="r" b="b" t="t" l="l"/>
            <a:pathLst>
              <a:path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615886" y="3612551"/>
            <a:ext cx="4672114" cy="6674449"/>
          </a:xfrm>
          <a:custGeom>
            <a:avLst/>
            <a:gdLst/>
            <a:ahLst/>
            <a:cxnLst/>
            <a:rect r="r" b="b" t="t" l="l"/>
            <a:pathLst>
              <a:path h="6674449" w="4672114">
                <a:moveTo>
                  <a:pt x="0" y="0"/>
                </a:moveTo>
                <a:lnTo>
                  <a:pt x="4672114" y="0"/>
                </a:lnTo>
                <a:lnTo>
                  <a:pt x="4672114" y="6674449"/>
                </a:lnTo>
                <a:lnTo>
                  <a:pt x="0" y="66744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08223" y="3070838"/>
            <a:ext cx="9343270" cy="5072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sz="2992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 comercio de artículos usados, coleccionables y emprendimientos locales sufre de falta de confianza y herramientas innovadoras.</a:t>
            </a:r>
          </a:p>
          <a:p>
            <a:pPr algn="l">
              <a:lnSpc>
                <a:spcPts val="4488"/>
              </a:lnSpc>
            </a:pPr>
          </a:p>
          <a:p>
            <a:pPr algn="l" marL="0" indent="0" lvl="0">
              <a:lnSpc>
                <a:spcPts val="4488"/>
              </a:lnSpc>
              <a:spcBef>
                <a:spcPct val="0"/>
              </a:spcBef>
            </a:pPr>
            <a:r>
              <a:rPr lang="en-US" sz="2992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Las plataformas actuales no ofrecen seguridad contra estafas en entregas presenciales, mientras que los grandes marketplaces no otorgan visibilidad ni subastas para productos únicos a los pequeños vendedores.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918754" y="1019175"/>
            <a:ext cx="6450492" cy="93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05"/>
              </a:lnSpc>
              <a:spcBef>
                <a:spcPct val="0"/>
              </a:spcBef>
            </a:pPr>
            <a:r>
              <a:rPr lang="en-US" b="true" sz="6088">
                <a:solidFill>
                  <a:srgbClr val="50198F"/>
                </a:solidFill>
                <a:latin typeface="Raleway Bold"/>
                <a:ea typeface="Raleway Bold"/>
                <a:cs typeface="Raleway Bold"/>
                <a:sym typeface="Raleway Bold"/>
              </a:rPr>
              <a:t> PROBLEMÁTICA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37151" y="5743984"/>
            <a:ext cx="6445736" cy="5870991"/>
          </a:xfrm>
          <a:custGeom>
            <a:avLst/>
            <a:gdLst/>
            <a:ahLst/>
            <a:cxnLst/>
            <a:rect r="r" b="b" t="t" l="l"/>
            <a:pathLst>
              <a:path h="5870991" w="6445736">
                <a:moveTo>
                  <a:pt x="0" y="0"/>
                </a:moveTo>
                <a:lnTo>
                  <a:pt x="6445735" y="0"/>
                </a:lnTo>
                <a:lnTo>
                  <a:pt x="6445735" y="5870990"/>
                </a:lnTo>
                <a:lnTo>
                  <a:pt x="0" y="58709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183785"/>
            <a:ext cx="3331858" cy="2762704"/>
          </a:xfrm>
          <a:custGeom>
            <a:avLst/>
            <a:gdLst/>
            <a:ahLst/>
            <a:cxnLst/>
            <a:rect r="r" b="b" t="t" l="l"/>
            <a:pathLst>
              <a:path h="2762704" w="3331858">
                <a:moveTo>
                  <a:pt x="0" y="0"/>
                </a:moveTo>
                <a:lnTo>
                  <a:pt x="3331858" y="0"/>
                </a:lnTo>
                <a:lnTo>
                  <a:pt x="3331858" y="2762704"/>
                </a:lnTo>
                <a:lnTo>
                  <a:pt x="0" y="27627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148" t="0" r="-9148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5400000">
            <a:off x="1459514" y="-1673036"/>
            <a:ext cx="2794156" cy="5846533"/>
          </a:xfrm>
          <a:custGeom>
            <a:avLst/>
            <a:gdLst/>
            <a:ahLst/>
            <a:cxnLst/>
            <a:rect r="r" b="b" t="t" l="l"/>
            <a:pathLst>
              <a:path h="5846533" w="2794156">
                <a:moveTo>
                  <a:pt x="0" y="5846533"/>
                </a:moveTo>
                <a:lnTo>
                  <a:pt x="2794156" y="5846533"/>
                </a:lnTo>
                <a:lnTo>
                  <a:pt x="2794156" y="0"/>
                </a:lnTo>
                <a:lnTo>
                  <a:pt x="0" y="0"/>
                </a:lnTo>
                <a:lnTo>
                  <a:pt x="0" y="5846533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81263" y="766104"/>
            <a:ext cx="4527362" cy="1011111"/>
          </a:xfrm>
          <a:custGeom>
            <a:avLst/>
            <a:gdLst/>
            <a:ahLst/>
            <a:cxnLst/>
            <a:rect r="r" b="b" t="t" l="l"/>
            <a:pathLst>
              <a:path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30869" y="2354289"/>
            <a:ext cx="7599825" cy="4769335"/>
          </a:xfrm>
          <a:custGeom>
            <a:avLst/>
            <a:gdLst/>
            <a:ahLst/>
            <a:cxnLst/>
            <a:rect r="r" b="b" t="t" l="l"/>
            <a:pathLst>
              <a:path h="4769335" w="7599825">
                <a:moveTo>
                  <a:pt x="0" y="0"/>
                </a:moveTo>
                <a:lnTo>
                  <a:pt x="7599825" y="0"/>
                </a:lnTo>
                <a:lnTo>
                  <a:pt x="7599825" y="4769334"/>
                </a:lnTo>
                <a:lnTo>
                  <a:pt x="0" y="476933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40653" t="0" r="0" b="0"/>
            </a:stretch>
          </a:blipFill>
          <a:ln w="76200" cap="rnd">
            <a:solidFill>
              <a:srgbClr val="50198F"/>
            </a:solidFill>
            <a:prstDash val="solid"/>
            <a:round/>
          </a:ln>
        </p:spPr>
      </p:sp>
      <p:sp>
        <p:nvSpPr>
          <p:cNvPr name="TextBox 7" id="7"/>
          <p:cNvSpPr txBox="true"/>
          <p:nvPr/>
        </p:nvSpPr>
        <p:spPr>
          <a:xfrm rot="0">
            <a:off x="1189431" y="4452899"/>
            <a:ext cx="6046769" cy="1993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7"/>
              </a:lnSpc>
              <a:spcBef>
                <a:spcPct val="0"/>
              </a:spcBef>
            </a:pPr>
            <a:r>
              <a:rPr lang="en-US" sz="2665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Marketplace para artículos únicos y usados, que combina subastas en vivo, emprendimientos y entregas seguras.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9431" y="6845783"/>
            <a:ext cx="1970729" cy="479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5418" indent="-287709" lvl="1">
              <a:lnSpc>
                <a:spcPts val="3997"/>
              </a:lnSpc>
              <a:spcBef>
                <a:spcPct val="0"/>
              </a:spcBef>
              <a:buFont typeface="Arial"/>
              <a:buChar char="•"/>
            </a:pPr>
            <a:r>
              <a:rPr lang="en-US" sz="2665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Ventas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79235" y="6845783"/>
            <a:ext cx="2189804" cy="479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5418" indent="-287709" lvl="1">
              <a:lnSpc>
                <a:spcPts val="3997"/>
              </a:lnSpc>
              <a:spcBef>
                <a:spcPct val="0"/>
              </a:spcBef>
              <a:buFont typeface="Arial"/>
              <a:buChar char="•"/>
            </a:pPr>
            <a:r>
              <a:rPr lang="en-US" sz="2665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Subastas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9431" y="7437998"/>
            <a:ext cx="1970729" cy="479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5418" indent="-287709" lvl="1">
              <a:lnSpc>
                <a:spcPts val="3997"/>
              </a:lnSpc>
              <a:spcBef>
                <a:spcPct val="0"/>
              </a:spcBef>
              <a:buFont typeface="Arial"/>
              <a:buChar char="•"/>
            </a:pPr>
            <a:r>
              <a:rPr lang="en-US" sz="2665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Tiendas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55048" y="7437998"/>
            <a:ext cx="2324811" cy="479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5418" indent="-287709" lvl="1">
              <a:lnSpc>
                <a:spcPts val="3997"/>
              </a:lnSpc>
              <a:spcBef>
                <a:spcPct val="0"/>
              </a:spcBef>
              <a:buFont typeface="Arial"/>
              <a:buChar char="•"/>
            </a:pPr>
            <a:r>
              <a:rPr lang="en-US" sz="2665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Seguridad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128033">
            <a:off x="15660512" y="-1568768"/>
            <a:ext cx="4913194" cy="4114800"/>
          </a:xfrm>
          <a:custGeom>
            <a:avLst/>
            <a:gdLst/>
            <a:ahLst/>
            <a:cxnLst/>
            <a:rect r="r" b="b" t="t" l="l"/>
            <a:pathLst>
              <a:path h="4114800" w="4913194">
                <a:moveTo>
                  <a:pt x="4913194" y="0"/>
                </a:moveTo>
                <a:lnTo>
                  <a:pt x="0" y="0"/>
                </a:lnTo>
                <a:lnTo>
                  <a:pt x="0" y="4114800"/>
                </a:lnTo>
                <a:lnTo>
                  <a:pt x="4913194" y="4114800"/>
                </a:lnTo>
                <a:lnTo>
                  <a:pt x="491319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366848" y="6669139"/>
            <a:ext cx="2794156" cy="5846533"/>
          </a:xfrm>
          <a:custGeom>
            <a:avLst/>
            <a:gdLst/>
            <a:ahLst/>
            <a:cxnLst/>
            <a:rect r="r" b="b" t="t" l="l"/>
            <a:pathLst>
              <a:path h="5846533" w="2794156">
                <a:moveTo>
                  <a:pt x="0" y="0"/>
                </a:moveTo>
                <a:lnTo>
                  <a:pt x="2794156" y="0"/>
                </a:lnTo>
                <a:lnTo>
                  <a:pt x="2794156" y="5846533"/>
                </a:lnTo>
                <a:lnTo>
                  <a:pt x="0" y="58465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4746112" y="9057545"/>
            <a:ext cx="4527362" cy="1011111"/>
          </a:xfrm>
          <a:custGeom>
            <a:avLst/>
            <a:gdLst/>
            <a:ahLst/>
            <a:cxnLst/>
            <a:rect r="r" b="b" t="t" l="l"/>
            <a:pathLst>
              <a:path h="1011111" w="4527362">
                <a:moveTo>
                  <a:pt x="0" y="0"/>
                </a:moveTo>
                <a:lnTo>
                  <a:pt x="4527361" y="0"/>
                </a:lnTo>
                <a:lnTo>
                  <a:pt x="4527361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1595510" y="1393187"/>
            <a:ext cx="4527362" cy="1011111"/>
          </a:xfrm>
          <a:custGeom>
            <a:avLst/>
            <a:gdLst/>
            <a:ahLst/>
            <a:cxnLst/>
            <a:rect r="r" b="b" t="t" l="l"/>
            <a:pathLst>
              <a:path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20975" y="4418870"/>
            <a:ext cx="7523025" cy="1943100"/>
            <a:chOff x="0" y="0"/>
            <a:chExt cx="1981373" cy="5117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81373" cy="511763"/>
            </a:xfrm>
            <a:custGeom>
              <a:avLst/>
              <a:gdLst/>
              <a:ahLst/>
              <a:cxnLst/>
              <a:rect r="r" b="b" t="t" l="l"/>
              <a:pathLst>
                <a:path h="511763" w="1981373">
                  <a:moveTo>
                    <a:pt x="52484" y="0"/>
                  </a:moveTo>
                  <a:lnTo>
                    <a:pt x="1928889" y="0"/>
                  </a:lnTo>
                  <a:cubicBezTo>
                    <a:pt x="1957875" y="0"/>
                    <a:pt x="1981373" y="23498"/>
                    <a:pt x="1981373" y="52484"/>
                  </a:cubicBezTo>
                  <a:lnTo>
                    <a:pt x="1981373" y="459279"/>
                  </a:lnTo>
                  <a:cubicBezTo>
                    <a:pt x="1981373" y="488265"/>
                    <a:pt x="1957875" y="511763"/>
                    <a:pt x="1928889" y="511763"/>
                  </a:cubicBezTo>
                  <a:lnTo>
                    <a:pt x="52484" y="511763"/>
                  </a:lnTo>
                  <a:cubicBezTo>
                    <a:pt x="23498" y="511763"/>
                    <a:pt x="0" y="488265"/>
                    <a:pt x="0" y="459279"/>
                  </a:cubicBezTo>
                  <a:lnTo>
                    <a:pt x="0" y="52484"/>
                  </a:lnTo>
                  <a:cubicBezTo>
                    <a:pt x="0" y="23498"/>
                    <a:pt x="23498" y="0"/>
                    <a:pt x="52484" y="0"/>
                  </a:cubicBezTo>
                  <a:close/>
                </a:path>
              </a:pathLst>
            </a:custGeom>
            <a:solidFill>
              <a:srgbClr val="FCF0FF"/>
            </a:solidFill>
            <a:ln w="38100" cap="rnd">
              <a:solidFill>
                <a:srgbClr val="50198F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981373" cy="521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20975" y="6809645"/>
            <a:ext cx="7523025" cy="1943100"/>
            <a:chOff x="0" y="0"/>
            <a:chExt cx="1981373" cy="5117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81373" cy="511763"/>
            </a:xfrm>
            <a:custGeom>
              <a:avLst/>
              <a:gdLst/>
              <a:ahLst/>
              <a:cxnLst/>
              <a:rect r="r" b="b" t="t" l="l"/>
              <a:pathLst>
                <a:path h="511763" w="1981373">
                  <a:moveTo>
                    <a:pt x="52484" y="0"/>
                  </a:moveTo>
                  <a:lnTo>
                    <a:pt x="1928889" y="0"/>
                  </a:lnTo>
                  <a:cubicBezTo>
                    <a:pt x="1957875" y="0"/>
                    <a:pt x="1981373" y="23498"/>
                    <a:pt x="1981373" y="52484"/>
                  </a:cubicBezTo>
                  <a:lnTo>
                    <a:pt x="1981373" y="459279"/>
                  </a:lnTo>
                  <a:cubicBezTo>
                    <a:pt x="1981373" y="488265"/>
                    <a:pt x="1957875" y="511763"/>
                    <a:pt x="1928889" y="511763"/>
                  </a:cubicBezTo>
                  <a:lnTo>
                    <a:pt x="52484" y="511763"/>
                  </a:lnTo>
                  <a:cubicBezTo>
                    <a:pt x="23498" y="511763"/>
                    <a:pt x="0" y="488265"/>
                    <a:pt x="0" y="459279"/>
                  </a:cubicBezTo>
                  <a:lnTo>
                    <a:pt x="0" y="52484"/>
                  </a:lnTo>
                  <a:cubicBezTo>
                    <a:pt x="0" y="23498"/>
                    <a:pt x="23498" y="0"/>
                    <a:pt x="52484" y="0"/>
                  </a:cubicBezTo>
                  <a:close/>
                </a:path>
              </a:pathLst>
            </a:custGeom>
            <a:solidFill>
              <a:srgbClr val="FCF0FF"/>
            </a:solidFill>
            <a:ln w="38100" cap="rnd">
              <a:solidFill>
                <a:srgbClr val="50198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981373" cy="521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20975" y="2031682"/>
            <a:ext cx="7523025" cy="1943100"/>
            <a:chOff x="0" y="0"/>
            <a:chExt cx="1981373" cy="5117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81373" cy="511763"/>
            </a:xfrm>
            <a:custGeom>
              <a:avLst/>
              <a:gdLst/>
              <a:ahLst/>
              <a:cxnLst/>
              <a:rect r="r" b="b" t="t" l="l"/>
              <a:pathLst>
                <a:path h="511763" w="1981373">
                  <a:moveTo>
                    <a:pt x="52484" y="0"/>
                  </a:moveTo>
                  <a:lnTo>
                    <a:pt x="1928889" y="0"/>
                  </a:lnTo>
                  <a:cubicBezTo>
                    <a:pt x="1957875" y="0"/>
                    <a:pt x="1981373" y="23498"/>
                    <a:pt x="1981373" y="52484"/>
                  </a:cubicBezTo>
                  <a:lnTo>
                    <a:pt x="1981373" y="459279"/>
                  </a:lnTo>
                  <a:cubicBezTo>
                    <a:pt x="1981373" y="488265"/>
                    <a:pt x="1957875" y="511763"/>
                    <a:pt x="1928889" y="511763"/>
                  </a:cubicBezTo>
                  <a:lnTo>
                    <a:pt x="52484" y="511763"/>
                  </a:lnTo>
                  <a:cubicBezTo>
                    <a:pt x="23498" y="511763"/>
                    <a:pt x="0" y="488265"/>
                    <a:pt x="0" y="459279"/>
                  </a:cubicBezTo>
                  <a:lnTo>
                    <a:pt x="0" y="52484"/>
                  </a:lnTo>
                  <a:cubicBezTo>
                    <a:pt x="0" y="23498"/>
                    <a:pt x="23498" y="0"/>
                    <a:pt x="52484" y="0"/>
                  </a:cubicBezTo>
                  <a:close/>
                </a:path>
              </a:pathLst>
            </a:custGeom>
            <a:solidFill>
              <a:srgbClr val="FCF0FF"/>
            </a:solidFill>
            <a:ln w="38100" cap="rnd">
              <a:solidFill>
                <a:srgbClr val="50198F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981373" cy="521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9591675" y="2203702"/>
            <a:ext cx="8229600" cy="5991626"/>
          </a:xfrm>
          <a:custGeom>
            <a:avLst/>
            <a:gdLst/>
            <a:ahLst/>
            <a:cxnLst/>
            <a:rect r="r" b="b" t="t" l="l"/>
            <a:pathLst>
              <a:path h="5991626" w="8229600">
                <a:moveTo>
                  <a:pt x="0" y="0"/>
                </a:moveTo>
                <a:lnTo>
                  <a:pt x="8229600" y="0"/>
                </a:lnTo>
                <a:lnTo>
                  <a:pt x="8229600" y="5991626"/>
                </a:lnTo>
                <a:lnTo>
                  <a:pt x="0" y="59916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917" t="0" r="-5917" b="0"/>
            </a:stretch>
          </a:blipFill>
          <a:ln w="85725" cap="rnd">
            <a:solidFill>
              <a:srgbClr val="50198F"/>
            </a:solidFill>
            <a:prstDash val="solid"/>
            <a:round/>
          </a:ln>
        </p:spPr>
      </p:sp>
      <p:sp>
        <p:nvSpPr>
          <p:cNvPr name="TextBox 16" id="16"/>
          <p:cNvSpPr txBox="true"/>
          <p:nvPr/>
        </p:nvSpPr>
        <p:spPr>
          <a:xfrm rot="0">
            <a:off x="2859626" y="334293"/>
            <a:ext cx="12991386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50198F"/>
                </a:solidFill>
                <a:latin typeface="Raleway Bold"/>
                <a:ea typeface="Raleway Bold"/>
                <a:cs typeface="Raleway Bold"/>
                <a:sym typeface="Raleway Bold"/>
              </a:rPr>
              <a:t>¿Qué nos hace diferentes?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50627" y="4599843"/>
            <a:ext cx="49241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Retiro Presencial Garantizado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721044" y="6990620"/>
            <a:ext cx="368585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Tiendas personalizadas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758638" y="2212656"/>
            <a:ext cx="32477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Subastas para todos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83937" y="5209445"/>
            <a:ext cx="7160063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Incluso en entregas presenciales se solicita un código OTP para finalizar la transacción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02456" y="7600220"/>
            <a:ext cx="7160063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Usuarios pueden crear tiendas para dar un enfoque personal a su emprendimiento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83937" y="2822257"/>
            <a:ext cx="7160063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Cualquier usuario puede iniciar una subasta en tiempo real de su producto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845550" y="-979487"/>
            <a:ext cx="4913194" cy="4114800"/>
          </a:xfrm>
          <a:custGeom>
            <a:avLst/>
            <a:gdLst/>
            <a:ahLst/>
            <a:cxnLst/>
            <a:rect r="r" b="b" t="t" l="l"/>
            <a:pathLst>
              <a:path h="4114800" w="4913194">
                <a:moveTo>
                  <a:pt x="4913194" y="0"/>
                </a:moveTo>
                <a:lnTo>
                  <a:pt x="0" y="0"/>
                </a:lnTo>
                <a:lnTo>
                  <a:pt x="0" y="4114800"/>
                </a:lnTo>
                <a:lnTo>
                  <a:pt x="4913194" y="4114800"/>
                </a:lnTo>
                <a:lnTo>
                  <a:pt x="491319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199679" y="7281982"/>
            <a:ext cx="2794156" cy="5846533"/>
          </a:xfrm>
          <a:custGeom>
            <a:avLst/>
            <a:gdLst/>
            <a:ahLst/>
            <a:cxnLst/>
            <a:rect r="r" b="b" t="t" l="l"/>
            <a:pathLst>
              <a:path h="5846533" w="2794156">
                <a:moveTo>
                  <a:pt x="0" y="0"/>
                </a:moveTo>
                <a:lnTo>
                  <a:pt x="2794156" y="0"/>
                </a:lnTo>
                <a:lnTo>
                  <a:pt x="2794156" y="5846534"/>
                </a:lnTo>
                <a:lnTo>
                  <a:pt x="0" y="5846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4770849" y="9498179"/>
            <a:ext cx="4527362" cy="1011111"/>
          </a:xfrm>
          <a:custGeom>
            <a:avLst/>
            <a:gdLst/>
            <a:ahLst/>
            <a:cxnLst/>
            <a:rect r="r" b="b" t="t" l="l"/>
            <a:pathLst>
              <a:path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1740536" y="-1130936"/>
            <a:ext cx="4527362" cy="1011111"/>
          </a:xfrm>
          <a:custGeom>
            <a:avLst/>
            <a:gdLst/>
            <a:ahLst/>
            <a:cxnLst/>
            <a:rect r="r" b="b" t="t" l="l"/>
            <a:pathLst>
              <a:path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H="true">
            <a:off x="523145" y="7029651"/>
            <a:ext cx="1931969" cy="0"/>
          </a:xfrm>
          <a:prstGeom prst="line">
            <a:avLst/>
          </a:prstGeom>
          <a:ln cap="flat" w="219075">
            <a:solidFill>
              <a:srgbClr val="50198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" id="7"/>
          <p:cNvSpPr/>
          <p:nvPr/>
        </p:nvSpPr>
        <p:spPr>
          <a:xfrm>
            <a:off x="674811" y="4826000"/>
            <a:ext cx="16359719" cy="0"/>
          </a:xfrm>
          <a:prstGeom prst="line">
            <a:avLst/>
          </a:prstGeom>
          <a:ln cap="flat" w="219075">
            <a:solidFill>
              <a:srgbClr val="50198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1815917" y="6953351"/>
            <a:ext cx="15218613" cy="76300"/>
          </a:xfrm>
          <a:prstGeom prst="line">
            <a:avLst/>
          </a:prstGeom>
          <a:ln cap="flat" w="219075">
            <a:solidFill>
              <a:srgbClr val="50198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16925945" y="4719307"/>
            <a:ext cx="0" cy="2310343"/>
          </a:xfrm>
          <a:prstGeom prst="line">
            <a:avLst/>
          </a:prstGeom>
          <a:ln cap="flat" w="219075">
            <a:solidFill>
              <a:srgbClr val="50198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670134" y="6659431"/>
            <a:ext cx="740439" cy="74043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0198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486756" y="6659431"/>
            <a:ext cx="740439" cy="74043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0198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70134" y="4509292"/>
            <a:ext cx="740439" cy="740439"/>
            <a:chOff x="0" y="0"/>
            <a:chExt cx="987252" cy="987252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987252" cy="987252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198F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9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134254" y="166597"/>
              <a:ext cx="718745" cy="654058"/>
            </a:xfrm>
            <a:custGeom>
              <a:avLst/>
              <a:gdLst/>
              <a:ahLst/>
              <a:cxnLst/>
              <a:rect r="r" b="b" t="t" l="l"/>
              <a:pathLst>
                <a:path h="654058" w="718745">
                  <a:moveTo>
                    <a:pt x="0" y="0"/>
                  </a:moveTo>
                  <a:lnTo>
                    <a:pt x="718745" y="0"/>
                  </a:lnTo>
                  <a:lnTo>
                    <a:pt x="718745" y="654058"/>
                  </a:lnTo>
                  <a:lnTo>
                    <a:pt x="0" y="654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4486756" y="4455780"/>
            <a:ext cx="740439" cy="740439"/>
            <a:chOff x="0" y="0"/>
            <a:chExt cx="987252" cy="987252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987252" cy="987252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198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9"/>
                  </a:lnSpc>
                </a:pPr>
              </a:p>
            </p:txBody>
          </p:sp>
        </p:grpSp>
        <p:sp>
          <p:nvSpPr>
            <p:cNvPr name="Freeform 25" id="25"/>
            <p:cNvSpPr/>
            <p:nvPr/>
          </p:nvSpPr>
          <p:spPr>
            <a:xfrm flipH="false" flipV="false" rot="0">
              <a:off x="134254" y="166597"/>
              <a:ext cx="718745" cy="654058"/>
            </a:xfrm>
            <a:custGeom>
              <a:avLst/>
              <a:gdLst/>
              <a:ahLst/>
              <a:cxnLst/>
              <a:rect r="r" b="b" t="t" l="l"/>
              <a:pathLst>
                <a:path h="654058" w="718745">
                  <a:moveTo>
                    <a:pt x="0" y="0"/>
                  </a:moveTo>
                  <a:lnTo>
                    <a:pt x="718745" y="0"/>
                  </a:lnTo>
                  <a:lnTo>
                    <a:pt x="718745" y="654058"/>
                  </a:lnTo>
                  <a:lnTo>
                    <a:pt x="0" y="654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186417" y="4455780"/>
            <a:ext cx="740439" cy="740439"/>
            <a:chOff x="0" y="0"/>
            <a:chExt cx="987252" cy="987252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987252" cy="987252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198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9"/>
                  </a:lnSpc>
                </a:pPr>
              </a:p>
            </p:txBody>
          </p:sp>
        </p:grpSp>
        <p:sp>
          <p:nvSpPr>
            <p:cNvPr name="Freeform 30" id="30"/>
            <p:cNvSpPr/>
            <p:nvPr/>
          </p:nvSpPr>
          <p:spPr>
            <a:xfrm flipH="false" flipV="false" rot="0">
              <a:off x="134254" y="166597"/>
              <a:ext cx="718745" cy="654058"/>
            </a:xfrm>
            <a:custGeom>
              <a:avLst/>
              <a:gdLst/>
              <a:ahLst/>
              <a:cxnLst/>
              <a:rect r="r" b="b" t="t" l="l"/>
              <a:pathLst>
                <a:path h="654058" w="718745">
                  <a:moveTo>
                    <a:pt x="0" y="0"/>
                  </a:moveTo>
                  <a:lnTo>
                    <a:pt x="718745" y="0"/>
                  </a:lnTo>
                  <a:lnTo>
                    <a:pt x="718745" y="654058"/>
                  </a:lnTo>
                  <a:lnTo>
                    <a:pt x="0" y="654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7186417" y="6609491"/>
            <a:ext cx="740439" cy="740439"/>
            <a:chOff x="0" y="0"/>
            <a:chExt cx="987252" cy="987252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987252" cy="987252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198F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9"/>
                  </a:lnSpc>
                </a:pPr>
              </a:p>
            </p:txBody>
          </p:sp>
        </p:grpSp>
        <p:sp>
          <p:nvSpPr>
            <p:cNvPr name="Freeform 35" id="35"/>
            <p:cNvSpPr/>
            <p:nvPr/>
          </p:nvSpPr>
          <p:spPr>
            <a:xfrm flipH="false" flipV="false" rot="0">
              <a:off x="134254" y="166597"/>
              <a:ext cx="718745" cy="654058"/>
            </a:xfrm>
            <a:custGeom>
              <a:avLst/>
              <a:gdLst/>
              <a:ahLst/>
              <a:cxnLst/>
              <a:rect r="r" b="b" t="t" l="l"/>
              <a:pathLst>
                <a:path h="654058" w="718745">
                  <a:moveTo>
                    <a:pt x="0" y="0"/>
                  </a:moveTo>
                  <a:lnTo>
                    <a:pt x="718745" y="0"/>
                  </a:lnTo>
                  <a:lnTo>
                    <a:pt x="718745" y="654058"/>
                  </a:lnTo>
                  <a:lnTo>
                    <a:pt x="0" y="654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873352" y="4455780"/>
            <a:ext cx="740439" cy="740439"/>
            <a:chOff x="0" y="0"/>
            <a:chExt cx="987252" cy="987252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987252" cy="987252"/>
              <a:chOff x="0" y="0"/>
              <a:chExt cx="812800" cy="812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198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9"/>
                  </a:lnSpc>
                </a:pPr>
              </a:p>
            </p:txBody>
          </p:sp>
        </p:grpSp>
        <p:sp>
          <p:nvSpPr>
            <p:cNvPr name="Freeform 40" id="40"/>
            <p:cNvSpPr/>
            <p:nvPr/>
          </p:nvSpPr>
          <p:spPr>
            <a:xfrm flipH="false" flipV="false" rot="0">
              <a:off x="134254" y="166597"/>
              <a:ext cx="718745" cy="654058"/>
            </a:xfrm>
            <a:custGeom>
              <a:avLst/>
              <a:gdLst/>
              <a:ahLst/>
              <a:cxnLst/>
              <a:rect r="r" b="b" t="t" l="l"/>
              <a:pathLst>
                <a:path h="654058" w="718745">
                  <a:moveTo>
                    <a:pt x="0" y="0"/>
                  </a:moveTo>
                  <a:lnTo>
                    <a:pt x="718745" y="0"/>
                  </a:lnTo>
                  <a:lnTo>
                    <a:pt x="718745" y="654058"/>
                  </a:lnTo>
                  <a:lnTo>
                    <a:pt x="0" y="654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873352" y="6609491"/>
            <a:ext cx="740439" cy="740439"/>
            <a:chOff x="0" y="0"/>
            <a:chExt cx="987252" cy="987252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987252" cy="987252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198F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9"/>
                  </a:lnSpc>
                </a:pPr>
              </a:p>
            </p:txBody>
          </p:sp>
        </p:grpSp>
        <p:sp>
          <p:nvSpPr>
            <p:cNvPr name="Freeform 45" id="45"/>
            <p:cNvSpPr/>
            <p:nvPr/>
          </p:nvSpPr>
          <p:spPr>
            <a:xfrm flipH="false" flipV="false" rot="0">
              <a:off x="134254" y="166597"/>
              <a:ext cx="718745" cy="654058"/>
            </a:xfrm>
            <a:custGeom>
              <a:avLst/>
              <a:gdLst/>
              <a:ahLst/>
              <a:cxnLst/>
              <a:rect r="r" b="b" t="t" l="l"/>
              <a:pathLst>
                <a:path h="654058" w="718745">
                  <a:moveTo>
                    <a:pt x="0" y="0"/>
                  </a:moveTo>
                  <a:lnTo>
                    <a:pt x="718745" y="0"/>
                  </a:lnTo>
                  <a:lnTo>
                    <a:pt x="718745" y="654058"/>
                  </a:lnTo>
                  <a:lnTo>
                    <a:pt x="0" y="654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552673" y="4455780"/>
            <a:ext cx="740439" cy="740439"/>
            <a:chOff x="0" y="0"/>
            <a:chExt cx="987252" cy="987252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0" y="0"/>
              <a:ext cx="987252" cy="987252"/>
              <a:chOff x="0" y="0"/>
              <a:chExt cx="812800" cy="8128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198F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9"/>
                  </a:lnSpc>
                </a:pPr>
              </a:p>
            </p:txBody>
          </p:sp>
        </p:grpSp>
        <p:sp>
          <p:nvSpPr>
            <p:cNvPr name="Freeform 50" id="50"/>
            <p:cNvSpPr/>
            <p:nvPr/>
          </p:nvSpPr>
          <p:spPr>
            <a:xfrm flipH="false" flipV="false" rot="0">
              <a:off x="134254" y="166597"/>
              <a:ext cx="718745" cy="654058"/>
            </a:xfrm>
            <a:custGeom>
              <a:avLst/>
              <a:gdLst/>
              <a:ahLst/>
              <a:cxnLst/>
              <a:rect r="r" b="b" t="t" l="l"/>
              <a:pathLst>
                <a:path h="654058" w="718745">
                  <a:moveTo>
                    <a:pt x="0" y="0"/>
                  </a:moveTo>
                  <a:lnTo>
                    <a:pt x="718745" y="0"/>
                  </a:lnTo>
                  <a:lnTo>
                    <a:pt x="718745" y="654058"/>
                  </a:lnTo>
                  <a:lnTo>
                    <a:pt x="0" y="654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552673" y="6609491"/>
            <a:ext cx="740439" cy="740439"/>
            <a:chOff x="0" y="0"/>
            <a:chExt cx="987252" cy="987252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987252" cy="987252"/>
              <a:chOff x="0" y="0"/>
              <a:chExt cx="812800" cy="8128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198F"/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9"/>
                  </a:lnSpc>
                </a:pPr>
              </a:p>
            </p:txBody>
          </p:sp>
        </p:grpSp>
        <p:sp>
          <p:nvSpPr>
            <p:cNvPr name="Freeform 55" id="55"/>
            <p:cNvSpPr/>
            <p:nvPr/>
          </p:nvSpPr>
          <p:spPr>
            <a:xfrm flipH="false" flipV="false" rot="0">
              <a:off x="134254" y="166597"/>
              <a:ext cx="718745" cy="654058"/>
            </a:xfrm>
            <a:custGeom>
              <a:avLst/>
              <a:gdLst/>
              <a:ahLst/>
              <a:cxnLst/>
              <a:rect r="r" b="b" t="t" l="l"/>
              <a:pathLst>
                <a:path h="654058" w="718745">
                  <a:moveTo>
                    <a:pt x="0" y="0"/>
                  </a:moveTo>
                  <a:lnTo>
                    <a:pt x="718745" y="0"/>
                  </a:lnTo>
                  <a:lnTo>
                    <a:pt x="718745" y="654058"/>
                  </a:lnTo>
                  <a:lnTo>
                    <a:pt x="0" y="654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5380682" y="4403061"/>
            <a:ext cx="740439" cy="740439"/>
            <a:chOff x="0" y="0"/>
            <a:chExt cx="987252" cy="987252"/>
          </a:xfrm>
        </p:grpSpPr>
        <p:grpSp>
          <p:nvGrpSpPr>
            <p:cNvPr name="Group 57" id="57"/>
            <p:cNvGrpSpPr/>
            <p:nvPr/>
          </p:nvGrpSpPr>
          <p:grpSpPr>
            <a:xfrm rot="0">
              <a:off x="0" y="0"/>
              <a:ext cx="987252" cy="987252"/>
              <a:chOff x="0" y="0"/>
              <a:chExt cx="812800" cy="8128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198F"/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9"/>
                  </a:lnSpc>
                </a:pPr>
              </a:p>
            </p:txBody>
          </p:sp>
        </p:grpSp>
        <p:sp>
          <p:nvSpPr>
            <p:cNvPr name="Freeform 60" id="60"/>
            <p:cNvSpPr/>
            <p:nvPr/>
          </p:nvSpPr>
          <p:spPr>
            <a:xfrm flipH="false" flipV="false" rot="0">
              <a:off x="134254" y="166597"/>
              <a:ext cx="718745" cy="654058"/>
            </a:xfrm>
            <a:custGeom>
              <a:avLst/>
              <a:gdLst/>
              <a:ahLst/>
              <a:cxnLst/>
              <a:rect r="r" b="b" t="t" l="l"/>
              <a:pathLst>
                <a:path h="654058" w="718745">
                  <a:moveTo>
                    <a:pt x="0" y="0"/>
                  </a:moveTo>
                  <a:lnTo>
                    <a:pt x="718745" y="0"/>
                  </a:lnTo>
                  <a:lnTo>
                    <a:pt x="718745" y="654058"/>
                  </a:lnTo>
                  <a:lnTo>
                    <a:pt x="0" y="654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5380682" y="6556771"/>
            <a:ext cx="740439" cy="740439"/>
            <a:chOff x="0" y="0"/>
            <a:chExt cx="987252" cy="987252"/>
          </a:xfrm>
        </p:grpSpPr>
        <p:grpSp>
          <p:nvGrpSpPr>
            <p:cNvPr name="Group 62" id="62"/>
            <p:cNvGrpSpPr/>
            <p:nvPr/>
          </p:nvGrpSpPr>
          <p:grpSpPr>
            <a:xfrm rot="0">
              <a:off x="0" y="0"/>
              <a:ext cx="987252" cy="987252"/>
              <a:chOff x="0" y="0"/>
              <a:chExt cx="812800" cy="812800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198F"/>
              </a:solidFill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9"/>
                  </a:lnSpc>
                </a:pPr>
              </a:p>
            </p:txBody>
          </p:sp>
        </p:grpSp>
        <p:sp>
          <p:nvSpPr>
            <p:cNvPr name="Freeform 65" id="65"/>
            <p:cNvSpPr/>
            <p:nvPr/>
          </p:nvSpPr>
          <p:spPr>
            <a:xfrm flipH="false" flipV="false" rot="0">
              <a:off x="134254" y="166597"/>
              <a:ext cx="718745" cy="654058"/>
            </a:xfrm>
            <a:custGeom>
              <a:avLst/>
              <a:gdLst/>
              <a:ahLst/>
              <a:cxnLst/>
              <a:rect r="r" b="b" t="t" l="l"/>
              <a:pathLst>
                <a:path h="654058" w="718745">
                  <a:moveTo>
                    <a:pt x="0" y="0"/>
                  </a:moveTo>
                  <a:lnTo>
                    <a:pt x="718745" y="0"/>
                  </a:lnTo>
                  <a:lnTo>
                    <a:pt x="718745" y="654058"/>
                  </a:lnTo>
                  <a:lnTo>
                    <a:pt x="0" y="654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6" id="66"/>
          <p:cNvSpPr/>
          <p:nvPr/>
        </p:nvSpPr>
        <p:spPr>
          <a:xfrm flipH="false" flipV="false" rot="0">
            <a:off x="4632809" y="6799737"/>
            <a:ext cx="448332" cy="459828"/>
          </a:xfrm>
          <a:custGeom>
            <a:avLst/>
            <a:gdLst/>
            <a:ahLst/>
            <a:cxnLst/>
            <a:rect r="r" b="b" t="t" l="l"/>
            <a:pathLst>
              <a:path h="459828" w="448332">
                <a:moveTo>
                  <a:pt x="0" y="0"/>
                </a:moveTo>
                <a:lnTo>
                  <a:pt x="448332" y="0"/>
                </a:lnTo>
                <a:lnTo>
                  <a:pt x="448332" y="459828"/>
                </a:lnTo>
                <a:lnTo>
                  <a:pt x="0" y="4598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1816188" y="6799737"/>
            <a:ext cx="448332" cy="459828"/>
          </a:xfrm>
          <a:custGeom>
            <a:avLst/>
            <a:gdLst/>
            <a:ahLst/>
            <a:cxnLst/>
            <a:rect r="r" b="b" t="t" l="l"/>
            <a:pathLst>
              <a:path h="459828" w="448332">
                <a:moveTo>
                  <a:pt x="0" y="0"/>
                </a:moveTo>
                <a:lnTo>
                  <a:pt x="448332" y="0"/>
                </a:lnTo>
                <a:lnTo>
                  <a:pt x="448332" y="459828"/>
                </a:lnTo>
                <a:lnTo>
                  <a:pt x="0" y="4598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8" id="68"/>
          <p:cNvSpPr txBox="true"/>
          <p:nvPr/>
        </p:nvSpPr>
        <p:spPr>
          <a:xfrm rot="0">
            <a:off x="2101557" y="409575"/>
            <a:ext cx="14084886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50198F"/>
                </a:solidFill>
                <a:latin typeface="Raleway Bold"/>
                <a:ea typeface="Raleway Bold"/>
                <a:cs typeface="Raleway Bold"/>
                <a:sym typeface="Raleway Bold"/>
              </a:rPr>
              <a:t>Nuestro progreso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70061" y="2449513"/>
            <a:ext cx="254058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50198F"/>
                </a:solidFill>
                <a:latin typeface="Raleway Bold"/>
                <a:ea typeface="Raleway Bold"/>
                <a:cs typeface="Raleway Bold"/>
                <a:sym typeface="Raleway Bold"/>
              </a:rPr>
              <a:t>Plataforma web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18750" y="3592513"/>
            <a:ext cx="235008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50198F"/>
                </a:solidFill>
                <a:latin typeface="Raleway"/>
                <a:ea typeface="Raleway"/>
                <a:cs typeface="Raleway"/>
                <a:sym typeface="Raleway"/>
              </a:rPr>
              <a:t>Estructura base del proyecto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3650172" y="3592513"/>
            <a:ext cx="235008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50198F"/>
                </a:solidFill>
                <a:latin typeface="Raleway"/>
                <a:ea typeface="Raleway"/>
                <a:cs typeface="Raleway"/>
                <a:sym typeface="Raleway"/>
              </a:rPr>
              <a:t>Secciones página inicial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113015" y="3592513"/>
            <a:ext cx="235008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50198F"/>
                </a:solidFill>
                <a:latin typeface="Raleway"/>
                <a:ea typeface="Raleway"/>
                <a:cs typeface="Raleway"/>
                <a:sym typeface="Raleway"/>
              </a:rPr>
              <a:t>Registro de usuario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1844437" y="3592513"/>
            <a:ext cx="235008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50198F"/>
                </a:solidFill>
                <a:latin typeface="Raleway"/>
                <a:ea typeface="Raleway"/>
                <a:cs typeface="Raleway"/>
                <a:sym typeface="Raleway"/>
              </a:rPr>
              <a:t>Publicación de productos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4575859" y="3592513"/>
            <a:ext cx="235008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50198F"/>
                </a:solidFill>
                <a:latin typeface="Raleway"/>
                <a:ea typeface="Raleway"/>
                <a:cs typeface="Raleway"/>
                <a:sym typeface="Raleway"/>
              </a:rPr>
              <a:t>Módulo de subastas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4575859" y="7515326"/>
            <a:ext cx="235008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50198F"/>
                </a:solidFill>
                <a:latin typeface="Raleway"/>
                <a:ea typeface="Raleway"/>
                <a:cs typeface="Raleway"/>
                <a:sym typeface="Raleway"/>
              </a:rPr>
              <a:t>Carrito de compras 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9113352" y="7515326"/>
            <a:ext cx="2350086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50198F"/>
                </a:solidFill>
                <a:latin typeface="Raleway"/>
                <a:ea typeface="Raleway"/>
                <a:cs typeface="Raleway"/>
                <a:sym typeface="Raleway"/>
              </a:rPr>
              <a:t>Calificaciones y chat de usuarios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6389207" y="7515326"/>
            <a:ext cx="235008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50198F"/>
                </a:solidFill>
                <a:latin typeface="Raleway"/>
                <a:ea typeface="Raleway"/>
                <a:cs typeface="Raleway"/>
                <a:sym typeface="Raleway"/>
              </a:rPr>
              <a:t>Despliegue del sitio web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918750" y="7501137"/>
            <a:ext cx="2405993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50198F"/>
                </a:solidFill>
                <a:latin typeface="Raleway"/>
                <a:ea typeface="Raleway"/>
                <a:cs typeface="Raleway"/>
                <a:sym typeface="Raleway"/>
              </a:rPr>
              <a:t>Dashboards</a:t>
            </a:r>
          </a:p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50198F"/>
                </a:solidFill>
                <a:latin typeface="Raleway"/>
                <a:ea typeface="Raleway"/>
                <a:cs typeface="Raleway"/>
                <a:sym typeface="Raleway"/>
              </a:rPr>
              <a:t>Cliente</a:t>
            </a:r>
          </a:p>
          <a:p>
            <a:pPr algn="ctr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50198F"/>
                </a:solidFill>
                <a:latin typeface="Raleway"/>
                <a:ea typeface="Raleway"/>
                <a:cs typeface="Raleway"/>
                <a:sym typeface="Raleway"/>
              </a:rPr>
              <a:t>Administrador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3653978" y="7501137"/>
            <a:ext cx="2405993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50198F"/>
                </a:solidFill>
                <a:latin typeface="Raleway"/>
                <a:ea typeface="Raleway"/>
                <a:cs typeface="Raleway"/>
                <a:sym typeface="Raleway"/>
              </a:rPr>
              <a:t>Integración pasarela de pagos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1844437" y="7501137"/>
            <a:ext cx="235008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50198F"/>
                </a:solidFill>
                <a:latin typeface="Raleway"/>
                <a:ea typeface="Raleway"/>
                <a:cs typeface="Raleway"/>
                <a:sym typeface="Raleway"/>
              </a:rPr>
              <a:t>Impementación código OTP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6381593" y="3592513"/>
            <a:ext cx="235008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50198F"/>
                </a:solidFill>
                <a:latin typeface="Raleway"/>
                <a:ea typeface="Raleway"/>
                <a:cs typeface="Raleway"/>
                <a:sym typeface="Raleway"/>
              </a:rPr>
              <a:t>Conexión con base de datos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746112" y="-747159"/>
            <a:ext cx="4913194" cy="4114800"/>
          </a:xfrm>
          <a:custGeom>
            <a:avLst/>
            <a:gdLst/>
            <a:ahLst/>
            <a:cxnLst/>
            <a:rect r="r" b="b" t="t" l="l"/>
            <a:pathLst>
              <a:path h="4114800" w="4913194">
                <a:moveTo>
                  <a:pt x="4913194" y="0"/>
                </a:moveTo>
                <a:lnTo>
                  <a:pt x="0" y="0"/>
                </a:lnTo>
                <a:lnTo>
                  <a:pt x="0" y="4114800"/>
                </a:lnTo>
                <a:lnTo>
                  <a:pt x="4913194" y="4114800"/>
                </a:lnTo>
                <a:lnTo>
                  <a:pt x="491319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66953" y="6840589"/>
            <a:ext cx="2794156" cy="5846533"/>
          </a:xfrm>
          <a:custGeom>
            <a:avLst/>
            <a:gdLst/>
            <a:ahLst/>
            <a:cxnLst/>
            <a:rect r="r" b="b" t="t" l="l"/>
            <a:pathLst>
              <a:path h="5846533" w="2794156">
                <a:moveTo>
                  <a:pt x="0" y="0"/>
                </a:moveTo>
                <a:lnTo>
                  <a:pt x="2794156" y="0"/>
                </a:lnTo>
                <a:lnTo>
                  <a:pt x="2794156" y="5846533"/>
                </a:lnTo>
                <a:lnTo>
                  <a:pt x="0" y="58465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4746112" y="8752745"/>
            <a:ext cx="4527362" cy="1011111"/>
          </a:xfrm>
          <a:custGeom>
            <a:avLst/>
            <a:gdLst/>
            <a:ahLst/>
            <a:cxnLst/>
            <a:rect r="r" b="b" t="t" l="l"/>
            <a:pathLst>
              <a:path h="1011111" w="4527362">
                <a:moveTo>
                  <a:pt x="0" y="0"/>
                </a:moveTo>
                <a:lnTo>
                  <a:pt x="4527361" y="0"/>
                </a:lnTo>
                <a:lnTo>
                  <a:pt x="4527361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1595510" y="1393187"/>
            <a:ext cx="4527362" cy="1011111"/>
          </a:xfrm>
          <a:custGeom>
            <a:avLst/>
            <a:gdLst/>
            <a:ahLst/>
            <a:cxnLst/>
            <a:rect r="r" b="b" t="t" l="l"/>
            <a:pathLst>
              <a:path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055510" y="2115468"/>
            <a:ext cx="11183902" cy="3681047"/>
            <a:chOff x="0" y="0"/>
            <a:chExt cx="2945554" cy="9694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45555" cy="969494"/>
            </a:xfrm>
            <a:custGeom>
              <a:avLst/>
              <a:gdLst/>
              <a:ahLst/>
              <a:cxnLst/>
              <a:rect r="r" b="b" t="t" l="l"/>
              <a:pathLst>
                <a:path h="969494" w="2945555">
                  <a:moveTo>
                    <a:pt x="35304" y="0"/>
                  </a:moveTo>
                  <a:lnTo>
                    <a:pt x="2910250" y="0"/>
                  </a:lnTo>
                  <a:cubicBezTo>
                    <a:pt x="2919614" y="0"/>
                    <a:pt x="2928593" y="3720"/>
                    <a:pt x="2935214" y="10340"/>
                  </a:cubicBezTo>
                  <a:cubicBezTo>
                    <a:pt x="2941835" y="16961"/>
                    <a:pt x="2945555" y="25941"/>
                    <a:pt x="2945555" y="35304"/>
                  </a:cubicBezTo>
                  <a:lnTo>
                    <a:pt x="2945555" y="934190"/>
                  </a:lnTo>
                  <a:cubicBezTo>
                    <a:pt x="2945555" y="943553"/>
                    <a:pt x="2941835" y="952533"/>
                    <a:pt x="2935214" y="959154"/>
                  </a:cubicBezTo>
                  <a:cubicBezTo>
                    <a:pt x="2928593" y="965774"/>
                    <a:pt x="2919614" y="969494"/>
                    <a:pt x="2910250" y="969494"/>
                  </a:cubicBezTo>
                  <a:lnTo>
                    <a:pt x="35304" y="969494"/>
                  </a:lnTo>
                  <a:cubicBezTo>
                    <a:pt x="25941" y="969494"/>
                    <a:pt x="16961" y="965774"/>
                    <a:pt x="10340" y="959154"/>
                  </a:cubicBezTo>
                  <a:cubicBezTo>
                    <a:pt x="3720" y="952533"/>
                    <a:pt x="0" y="943553"/>
                    <a:pt x="0" y="934190"/>
                  </a:cubicBezTo>
                  <a:lnTo>
                    <a:pt x="0" y="35304"/>
                  </a:lnTo>
                  <a:cubicBezTo>
                    <a:pt x="0" y="25941"/>
                    <a:pt x="3720" y="16961"/>
                    <a:pt x="10340" y="10340"/>
                  </a:cubicBezTo>
                  <a:cubicBezTo>
                    <a:pt x="16961" y="3720"/>
                    <a:pt x="25941" y="0"/>
                    <a:pt x="35304" y="0"/>
                  </a:cubicBezTo>
                  <a:close/>
                </a:path>
              </a:pathLst>
            </a:custGeom>
            <a:solidFill>
              <a:srgbClr val="FCF0FF"/>
            </a:solidFill>
            <a:ln w="38100" cap="rnd">
              <a:solidFill>
                <a:srgbClr val="50198F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945554" cy="9790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055510" y="6082266"/>
            <a:ext cx="11183902" cy="3467100"/>
            <a:chOff x="0" y="0"/>
            <a:chExt cx="2945554" cy="9131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45555" cy="913146"/>
            </a:xfrm>
            <a:custGeom>
              <a:avLst/>
              <a:gdLst/>
              <a:ahLst/>
              <a:cxnLst/>
              <a:rect r="r" b="b" t="t" l="l"/>
              <a:pathLst>
                <a:path h="913146" w="2945555">
                  <a:moveTo>
                    <a:pt x="35304" y="0"/>
                  </a:moveTo>
                  <a:lnTo>
                    <a:pt x="2910250" y="0"/>
                  </a:lnTo>
                  <a:cubicBezTo>
                    <a:pt x="2919614" y="0"/>
                    <a:pt x="2928593" y="3720"/>
                    <a:pt x="2935214" y="10340"/>
                  </a:cubicBezTo>
                  <a:cubicBezTo>
                    <a:pt x="2941835" y="16961"/>
                    <a:pt x="2945555" y="25941"/>
                    <a:pt x="2945555" y="35304"/>
                  </a:cubicBezTo>
                  <a:lnTo>
                    <a:pt x="2945555" y="877842"/>
                  </a:lnTo>
                  <a:cubicBezTo>
                    <a:pt x="2945555" y="887205"/>
                    <a:pt x="2941835" y="896185"/>
                    <a:pt x="2935214" y="902805"/>
                  </a:cubicBezTo>
                  <a:cubicBezTo>
                    <a:pt x="2928593" y="909426"/>
                    <a:pt x="2919614" y="913146"/>
                    <a:pt x="2910250" y="913146"/>
                  </a:cubicBezTo>
                  <a:lnTo>
                    <a:pt x="35304" y="913146"/>
                  </a:lnTo>
                  <a:cubicBezTo>
                    <a:pt x="25941" y="913146"/>
                    <a:pt x="16961" y="909426"/>
                    <a:pt x="10340" y="902805"/>
                  </a:cubicBezTo>
                  <a:cubicBezTo>
                    <a:pt x="3720" y="896185"/>
                    <a:pt x="0" y="887205"/>
                    <a:pt x="0" y="877842"/>
                  </a:cubicBezTo>
                  <a:lnTo>
                    <a:pt x="0" y="35304"/>
                  </a:lnTo>
                  <a:cubicBezTo>
                    <a:pt x="0" y="25941"/>
                    <a:pt x="3720" y="16961"/>
                    <a:pt x="10340" y="10340"/>
                  </a:cubicBezTo>
                  <a:cubicBezTo>
                    <a:pt x="16961" y="3720"/>
                    <a:pt x="25941" y="0"/>
                    <a:pt x="35304" y="0"/>
                  </a:cubicBezTo>
                  <a:close/>
                </a:path>
              </a:pathLst>
            </a:custGeom>
            <a:solidFill>
              <a:srgbClr val="FCF0FF"/>
            </a:solidFill>
            <a:ln w="38100" cap="rnd">
              <a:solidFill>
                <a:srgbClr val="50198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945554" cy="922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859626" y="334293"/>
            <a:ext cx="11379786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50198F"/>
                </a:solidFill>
                <a:latin typeface="Raleway Bold"/>
                <a:ea typeface="Raleway Bold"/>
                <a:cs typeface="Raleway Bold"/>
                <a:sym typeface="Raleway Bold"/>
              </a:rPr>
              <a:t>Arquitectura de</a:t>
            </a:r>
            <a:r>
              <a:rPr lang="en-US" b="true" sz="8000">
                <a:solidFill>
                  <a:srgbClr val="50198F"/>
                </a:solidFill>
                <a:latin typeface="Raleway Bold"/>
                <a:ea typeface="Raleway Bold"/>
                <a:cs typeface="Raleway Bold"/>
                <a:sym typeface="Raleway Bold"/>
              </a:rPr>
              <a:t> Vindex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17318" y="2234166"/>
            <a:ext cx="466028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Arquitectura base del sistema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383826" y="3153328"/>
            <a:ext cx="288863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Frontend: </a:t>
            </a:r>
            <a:r>
              <a:rPr lang="en-US" sz="24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Netx.JS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383826" y="3820078"/>
            <a:ext cx="288863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Estilos: </a:t>
            </a:r>
            <a:r>
              <a:rPr lang="en-US" sz="24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Tailwind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64776" y="4486828"/>
            <a:ext cx="401258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Componentes: </a:t>
            </a:r>
            <a:r>
              <a:rPr lang="en-US" sz="24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Shadcn/ui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68410" y="4391025"/>
            <a:ext cx="401258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Supabase: </a:t>
            </a:r>
            <a:r>
              <a:rPr lang="en-US" sz="24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Base de datos PostgreSQL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68410" y="2891391"/>
            <a:ext cx="4012585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Supabase Storage: </a:t>
            </a:r>
            <a:r>
              <a:rPr lang="en-US" sz="24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Almacenamiento de imágenes</a:t>
            </a:r>
            <a:r>
              <a:rPr lang="en-US" b="true" sz="249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50603" y="6272766"/>
            <a:ext cx="399371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Arquitectura de subastas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753563" y="6886384"/>
            <a:ext cx="782113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Supabase Realtime: </a:t>
            </a:r>
            <a:r>
              <a:rPr lang="en-US" sz="24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Sincronización de usuarios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753563" y="7495984"/>
            <a:ext cx="782113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Sincronización horaria con el servidor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753563" y="8067484"/>
            <a:ext cx="881173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Lógica Anti-Sniping: </a:t>
            </a:r>
            <a:r>
              <a:rPr lang="en-US" sz="24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Para evitar pujas de último momento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128033">
            <a:off x="15660512" y="-1568768"/>
            <a:ext cx="4913194" cy="4114800"/>
          </a:xfrm>
          <a:custGeom>
            <a:avLst/>
            <a:gdLst/>
            <a:ahLst/>
            <a:cxnLst/>
            <a:rect r="r" b="b" t="t" l="l"/>
            <a:pathLst>
              <a:path h="4114800" w="4913194">
                <a:moveTo>
                  <a:pt x="4913194" y="0"/>
                </a:moveTo>
                <a:lnTo>
                  <a:pt x="0" y="0"/>
                </a:lnTo>
                <a:lnTo>
                  <a:pt x="0" y="4114800"/>
                </a:lnTo>
                <a:lnTo>
                  <a:pt x="4913194" y="4114800"/>
                </a:lnTo>
                <a:lnTo>
                  <a:pt x="491319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366848" y="6669139"/>
            <a:ext cx="2794156" cy="5846533"/>
          </a:xfrm>
          <a:custGeom>
            <a:avLst/>
            <a:gdLst/>
            <a:ahLst/>
            <a:cxnLst/>
            <a:rect r="r" b="b" t="t" l="l"/>
            <a:pathLst>
              <a:path h="5846533" w="2794156">
                <a:moveTo>
                  <a:pt x="0" y="0"/>
                </a:moveTo>
                <a:lnTo>
                  <a:pt x="2794156" y="0"/>
                </a:lnTo>
                <a:lnTo>
                  <a:pt x="2794156" y="5846533"/>
                </a:lnTo>
                <a:lnTo>
                  <a:pt x="0" y="58465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4746112" y="9057545"/>
            <a:ext cx="4527362" cy="1011111"/>
          </a:xfrm>
          <a:custGeom>
            <a:avLst/>
            <a:gdLst/>
            <a:ahLst/>
            <a:cxnLst/>
            <a:rect r="r" b="b" t="t" l="l"/>
            <a:pathLst>
              <a:path h="1011111" w="4527362">
                <a:moveTo>
                  <a:pt x="0" y="0"/>
                </a:moveTo>
                <a:lnTo>
                  <a:pt x="4527361" y="0"/>
                </a:lnTo>
                <a:lnTo>
                  <a:pt x="4527361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1595510" y="1393187"/>
            <a:ext cx="4527362" cy="1011111"/>
          </a:xfrm>
          <a:custGeom>
            <a:avLst/>
            <a:gdLst/>
            <a:ahLst/>
            <a:cxnLst/>
            <a:rect r="r" b="b" t="t" l="l"/>
            <a:pathLst>
              <a:path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028982" y="2075210"/>
            <a:ext cx="14230036" cy="5200650"/>
            <a:chOff x="0" y="0"/>
            <a:chExt cx="3747828" cy="1369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47829" cy="1369719"/>
            </a:xfrm>
            <a:custGeom>
              <a:avLst/>
              <a:gdLst/>
              <a:ahLst/>
              <a:cxnLst/>
              <a:rect r="r" b="b" t="t" l="l"/>
              <a:pathLst>
                <a:path h="1369719" w="3747829">
                  <a:moveTo>
                    <a:pt x="27747" y="0"/>
                  </a:moveTo>
                  <a:lnTo>
                    <a:pt x="3720082" y="0"/>
                  </a:lnTo>
                  <a:cubicBezTo>
                    <a:pt x="3735406" y="0"/>
                    <a:pt x="3747829" y="12423"/>
                    <a:pt x="3747829" y="27747"/>
                  </a:cubicBezTo>
                  <a:lnTo>
                    <a:pt x="3747829" y="1341972"/>
                  </a:lnTo>
                  <a:cubicBezTo>
                    <a:pt x="3747829" y="1357296"/>
                    <a:pt x="3735406" y="1369719"/>
                    <a:pt x="3720082" y="1369719"/>
                  </a:cubicBezTo>
                  <a:lnTo>
                    <a:pt x="27747" y="1369719"/>
                  </a:lnTo>
                  <a:cubicBezTo>
                    <a:pt x="12423" y="1369719"/>
                    <a:pt x="0" y="1357296"/>
                    <a:pt x="0" y="1341972"/>
                  </a:cubicBezTo>
                  <a:lnTo>
                    <a:pt x="0" y="27747"/>
                  </a:lnTo>
                  <a:cubicBezTo>
                    <a:pt x="0" y="12423"/>
                    <a:pt x="12423" y="0"/>
                    <a:pt x="27747" y="0"/>
                  </a:cubicBezTo>
                  <a:close/>
                </a:path>
              </a:pathLst>
            </a:custGeom>
            <a:solidFill>
              <a:srgbClr val="FCF0FF"/>
            </a:solidFill>
            <a:ln w="38100" cap="rnd">
              <a:solidFill>
                <a:srgbClr val="50198F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3747828" cy="1379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200757" y="398810"/>
            <a:ext cx="11886486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50198F"/>
                </a:solidFill>
                <a:latin typeface="Raleway Bold"/>
                <a:ea typeface="Raleway Bold"/>
                <a:cs typeface="Raleway Bold"/>
                <a:sym typeface="Raleway Bold"/>
              </a:rPr>
              <a:t>¿Comprando en Vindex?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82207" y="2429793"/>
            <a:ext cx="392358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50198F"/>
                </a:solidFill>
                <a:latin typeface="Raleway Bold"/>
                <a:ea typeface="Raleway Bold"/>
                <a:cs typeface="Raleway Bold"/>
                <a:sym typeface="Raleway Bold"/>
              </a:rPr>
              <a:t> Modalidades de Compra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42939" y="3027937"/>
            <a:ext cx="4913516" cy="378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4"/>
              </a:lnSpc>
            </a:pPr>
            <a:r>
              <a:rPr lang="en-US" sz="2278" b="true">
                <a:solidFill>
                  <a:srgbClr val="50198F"/>
                </a:solidFill>
                <a:latin typeface="Raleway Bold"/>
                <a:ea typeface="Raleway Bold"/>
                <a:cs typeface="Raleway Bold"/>
                <a:sym typeface="Raleway Bold"/>
              </a:rPr>
              <a:t>Funcionamiento de la Subasta:</a:t>
            </a:r>
          </a:p>
          <a:p>
            <a:pPr algn="ctr">
              <a:lnSpc>
                <a:spcPts val="2734"/>
              </a:lnSpc>
            </a:pPr>
          </a:p>
          <a:p>
            <a:pPr algn="l" marL="491991" indent="-245996" lvl="1">
              <a:lnSpc>
                <a:spcPts val="2734"/>
              </a:lnSpc>
              <a:buFont typeface="Arial"/>
              <a:buChar char="•"/>
            </a:pPr>
            <a:r>
              <a:rPr lang="en-US" sz="22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Inicia con un valor configurado por el vendedor.</a:t>
            </a:r>
          </a:p>
          <a:p>
            <a:pPr algn="l">
              <a:lnSpc>
                <a:spcPts val="2734"/>
              </a:lnSpc>
            </a:pPr>
          </a:p>
          <a:p>
            <a:pPr algn="l" marL="491991" indent="-245996" lvl="1">
              <a:lnSpc>
                <a:spcPts val="2734"/>
              </a:lnSpc>
              <a:buFont typeface="Arial"/>
              <a:buChar char="•"/>
            </a:pPr>
            <a:r>
              <a:rPr lang="en-US" sz="22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Hora sincronizada con el servidor.</a:t>
            </a:r>
          </a:p>
          <a:p>
            <a:pPr algn="l">
              <a:lnSpc>
                <a:spcPts val="2734"/>
              </a:lnSpc>
            </a:pPr>
          </a:p>
          <a:p>
            <a:pPr algn="l" marL="491991" indent="-245996" lvl="1">
              <a:lnSpc>
                <a:spcPts val="2734"/>
              </a:lnSpc>
              <a:buFont typeface="Arial"/>
              <a:buChar char="•"/>
            </a:pPr>
            <a:r>
              <a:rPr lang="en-US" sz="22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Extensión del tiempo si hay puja en los ultimos cinco minutos</a:t>
            </a:r>
          </a:p>
          <a:p>
            <a:pPr algn="ctr">
              <a:lnSpc>
                <a:spcPts val="2734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692580" y="3027937"/>
            <a:ext cx="4913516" cy="378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4"/>
              </a:lnSpc>
            </a:pPr>
            <a:r>
              <a:rPr lang="en-US" sz="2278" b="true">
                <a:solidFill>
                  <a:srgbClr val="50198F"/>
                </a:solidFill>
                <a:latin typeface="Raleway Bold"/>
                <a:ea typeface="Raleway Bold"/>
                <a:cs typeface="Raleway Bold"/>
                <a:sym typeface="Raleway Bold"/>
              </a:rPr>
              <a:t>Compra Normal:</a:t>
            </a:r>
          </a:p>
          <a:p>
            <a:pPr algn="ctr">
              <a:lnSpc>
                <a:spcPts val="2734"/>
              </a:lnSpc>
            </a:pPr>
          </a:p>
          <a:p>
            <a:pPr algn="l" marL="491991" indent="-245996" lvl="1">
              <a:lnSpc>
                <a:spcPts val="2734"/>
              </a:lnSpc>
              <a:buFont typeface="Arial"/>
              <a:buChar char="•"/>
            </a:pPr>
            <a:r>
              <a:rPr lang="en-US" sz="22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Precios fijos</a:t>
            </a:r>
          </a:p>
          <a:p>
            <a:pPr algn="l">
              <a:lnSpc>
                <a:spcPts val="2734"/>
              </a:lnSpc>
            </a:pPr>
          </a:p>
          <a:p>
            <a:pPr algn="l" marL="491991" indent="-245996" lvl="1">
              <a:lnSpc>
                <a:spcPts val="2734"/>
              </a:lnSpc>
              <a:buFont typeface="Arial"/>
              <a:buChar char="•"/>
            </a:pPr>
            <a:r>
              <a:rPr lang="en-US" sz="22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Envios o entrega presencial</a:t>
            </a:r>
          </a:p>
          <a:p>
            <a:pPr algn="l">
              <a:lnSpc>
                <a:spcPts val="2734"/>
              </a:lnSpc>
            </a:pPr>
          </a:p>
          <a:p>
            <a:pPr algn="l" marL="491991" indent="-245996" lvl="1">
              <a:lnSpc>
                <a:spcPts val="2734"/>
              </a:lnSpc>
              <a:buFont typeface="Arial"/>
              <a:buChar char="•"/>
            </a:pPr>
            <a:r>
              <a:rPr lang="en-US" sz="22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Chat para dudas</a:t>
            </a:r>
          </a:p>
          <a:p>
            <a:pPr algn="l">
              <a:lnSpc>
                <a:spcPts val="2734"/>
              </a:lnSpc>
            </a:pPr>
          </a:p>
          <a:p>
            <a:pPr algn="l" marL="491991" indent="-245996" lvl="1">
              <a:lnSpc>
                <a:spcPts val="2734"/>
              </a:lnSpc>
              <a:buFont typeface="Arial"/>
              <a:buChar char="•"/>
            </a:pPr>
            <a:r>
              <a:rPr lang="en-US" sz="22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Confirmación de entrega con codigo OTP</a:t>
            </a:r>
          </a:p>
          <a:p>
            <a:pPr algn="ctr">
              <a:lnSpc>
                <a:spcPts val="2734"/>
              </a:lnSpc>
              <a:spcBef>
                <a:spcPct val="0"/>
              </a:spcBef>
            </a:pPr>
          </a:p>
        </p:txBody>
      </p:sp>
      <p:sp>
        <p:nvSpPr>
          <p:cNvPr name="AutoShape 13" id="13"/>
          <p:cNvSpPr/>
          <p:nvPr/>
        </p:nvSpPr>
        <p:spPr>
          <a:xfrm>
            <a:off x="9144000" y="3257550"/>
            <a:ext cx="0" cy="3371850"/>
          </a:xfrm>
          <a:prstGeom prst="line">
            <a:avLst/>
          </a:prstGeom>
          <a:ln cap="flat" w="38100">
            <a:solidFill>
              <a:srgbClr val="50198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758126" y="1392555"/>
            <a:ext cx="4527362" cy="1011111"/>
          </a:xfrm>
          <a:custGeom>
            <a:avLst/>
            <a:gdLst/>
            <a:ahLst/>
            <a:cxnLst/>
            <a:rect r="r" b="b" t="t" l="l"/>
            <a:pathLst>
              <a:path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4538541" y="-1468692"/>
            <a:ext cx="2280767" cy="5218151"/>
          </a:xfrm>
          <a:custGeom>
            <a:avLst/>
            <a:gdLst/>
            <a:ahLst/>
            <a:cxnLst/>
            <a:rect r="r" b="b" t="t" l="l"/>
            <a:pathLst>
              <a:path h="5218151" w="2280767">
                <a:moveTo>
                  <a:pt x="0" y="0"/>
                </a:moveTo>
                <a:lnTo>
                  <a:pt x="2280767" y="0"/>
                </a:lnTo>
                <a:lnTo>
                  <a:pt x="2280767" y="5218151"/>
                </a:lnTo>
                <a:lnTo>
                  <a:pt x="0" y="52181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196152" y="7494835"/>
            <a:ext cx="3564095" cy="2984930"/>
          </a:xfrm>
          <a:custGeom>
            <a:avLst/>
            <a:gdLst/>
            <a:ahLst/>
            <a:cxnLst/>
            <a:rect r="r" b="b" t="t" l="l"/>
            <a:pathLst>
              <a:path h="2984930" w="3564095">
                <a:moveTo>
                  <a:pt x="0" y="2984929"/>
                </a:moveTo>
                <a:lnTo>
                  <a:pt x="3564095" y="2984929"/>
                </a:lnTo>
                <a:lnTo>
                  <a:pt x="3564095" y="0"/>
                </a:lnTo>
                <a:lnTo>
                  <a:pt x="0" y="0"/>
                </a:lnTo>
                <a:lnTo>
                  <a:pt x="0" y="298492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215565" y="2978549"/>
            <a:ext cx="6279751" cy="6279751"/>
          </a:xfrm>
          <a:custGeom>
            <a:avLst/>
            <a:gdLst/>
            <a:ahLst/>
            <a:cxnLst/>
            <a:rect r="r" b="b" t="t" l="l"/>
            <a:pathLst>
              <a:path h="6279751" w="6279751">
                <a:moveTo>
                  <a:pt x="0" y="0"/>
                </a:moveTo>
                <a:lnTo>
                  <a:pt x="6279751" y="0"/>
                </a:lnTo>
                <a:lnTo>
                  <a:pt x="6279751" y="6279751"/>
                </a:lnTo>
                <a:lnTo>
                  <a:pt x="0" y="62797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11886" y="726535"/>
            <a:ext cx="14077566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240"/>
              </a:lnSpc>
              <a:spcBef>
                <a:spcPct val="0"/>
              </a:spcBef>
            </a:pPr>
            <a:r>
              <a:rPr lang="en-US" b="true" sz="7700">
                <a:solidFill>
                  <a:srgbClr val="50198F"/>
                </a:solidFill>
                <a:latin typeface="Raleway Bold"/>
                <a:ea typeface="Raleway Bold"/>
                <a:cs typeface="Raleway Bold"/>
                <a:sym typeface="Raleway Bold"/>
              </a:rPr>
              <a:t>Vindex funcionando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15565" y="2280767"/>
            <a:ext cx="6279751" cy="697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94"/>
              </a:lnSpc>
              <a:spcBef>
                <a:spcPct val="0"/>
              </a:spcBef>
            </a:pPr>
            <a:r>
              <a:rPr lang="en-US" b="true" sz="4578">
                <a:solidFill>
                  <a:srgbClr val="50198F"/>
                </a:solidFill>
                <a:latin typeface="Raleway Bold"/>
                <a:ea typeface="Raleway Bold"/>
                <a:cs typeface="Raleway Bold"/>
                <a:sym typeface="Raleway Bold"/>
              </a:rPr>
              <a:t>vindex-mkt.vercel.app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DAHYYREiEVM</dc:identifier>
  <dcterms:modified xsi:type="dcterms:W3CDTF">2011-08-01T06:04:30Z</dcterms:modified>
  <cp:revision>1</cp:revision>
  <dc:title>Vindex PPT Fase 2</dc:title>
</cp:coreProperties>
</file>